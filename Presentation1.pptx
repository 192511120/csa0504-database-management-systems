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2" r:id="rId5"/>
    <p:sldId id="264" r:id="rId6"/>
    <p:sldId id="265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B579C-FC50-D885-7147-81CC1E4E7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B9958E-0A66-7855-18DC-362B10A17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3BE80-D577-004A-08DF-8676CB861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EAD-4570-4379-B983-6208ADEC2FA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9BBA7-6360-BD40-648A-790F24927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C1AE5-6760-A3A0-FB92-ABF75B24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7C16-352B-4F5F-8ACD-5C18E335BA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200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163B5-9123-7395-583E-7C0332514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F45B8-513E-1B88-D7D3-2CF11FF3C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7DE26-4A26-0568-EACE-F5B782458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EAD-4570-4379-B983-6208ADEC2FA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5004F-E3CE-7A7C-8D66-EAC293803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F19AE-8199-2FA4-8B9F-708F2410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7C16-352B-4F5F-8ACD-5C18E335BA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851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A4463-67D5-D11C-5531-C435CB815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15FEA-55E8-9671-F6BB-980010ED4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F3754-3867-7811-4299-8764121F8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EAD-4570-4379-B983-6208ADEC2FA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C778C-1714-9AFF-14A0-854AAF1D8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A48E6-F989-6069-9562-794A0E175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7C16-352B-4F5F-8ACD-5C18E335BA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696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3557E-E258-88A5-F1A1-F8736A981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BB265-633B-9D96-2FD0-DC1CB93BEB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817FD-47BB-8695-3519-9B23076BC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A8F48-C5EB-BDB8-E88C-8736E16CC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EAD-4570-4379-B983-6208ADEC2FA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427C6B-941E-D8C7-459F-9E091E76A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06E3D-89B6-B3C8-E303-1BBFB358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7C16-352B-4F5F-8ACD-5C18E335BA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087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E3D47-2130-86EB-F73B-0EC868C74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1F56C-881D-2707-E794-DE2D0EC16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F075E-9751-4922-96F0-8FDE2CD4A5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8B295F-5201-7FB7-CB2C-826A969E6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083923-31EF-9DAC-F86D-6CC5F49C81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40D66F-A08A-5927-5808-44544E3B2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EAD-4570-4379-B983-6208ADEC2FA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E90F16-BEA3-E337-09D9-825E2B95D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6CAA69-D46D-E21A-0A7E-01A750967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7C16-352B-4F5F-8ACD-5C18E335BA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468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B97A5-A50A-B8C4-6897-477D9EEFC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45C749-41D0-C681-F050-50D40A9E0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EAD-4570-4379-B983-6208ADEC2FA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C29C82-0758-4F90-E07D-FB443C0AC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1B0FC7-3698-863F-07CF-B5904BAE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7C16-352B-4F5F-8ACD-5C18E335BA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210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E3990D-0421-2FA6-8E79-0B61850DD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EAD-4570-4379-B983-6208ADEC2FA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07B6F8-FC14-9ED8-EFE8-E2634A6F1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85B95-CAC4-82B2-ACD5-C6B58E8B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7C16-352B-4F5F-8ACD-5C18E335BA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868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0BB25-6472-8177-427B-8CF7C4D09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5827E-7DA9-9468-C13B-1CB890158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2711D-3288-E691-A56D-493C79E422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3525C-14D6-4E67-2B9B-918103D3F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EAD-4570-4379-B983-6208ADEC2FA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A1EB9-6AC0-F3C2-CB20-82006BF28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303C2-DE0B-E049-150F-E975DA53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7C16-352B-4F5F-8ACD-5C18E335BA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6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C233C-12EA-FEE5-8C12-8EA225866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2DA3B5-8FAC-0651-258F-807981A85C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A4C49-DD27-28E7-74BB-D54C5683E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BA7B3-B2E8-DA3D-7A21-414A90B84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EAD-4570-4379-B983-6208ADEC2FA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CA09C-E4A3-E3D7-946A-14051CF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110A1-9447-F93A-6C24-56BC38649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7C16-352B-4F5F-8ACD-5C18E335BA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098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7593E-F704-9ACA-27A2-5D54BED57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FBC59C-CFE5-3BB1-E11A-E61D8D83F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D45AE-4571-53F9-46CE-7A297CC0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EAD-4570-4379-B983-6208ADEC2FA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08890-BA14-1CC5-1629-3CB63F92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3305A-C7AC-C4AF-36C2-854D7DDCA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7C16-352B-4F5F-8ACD-5C18E335BA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647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3A5699-0445-017B-907E-EB75839207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E966A7-8EFE-7CFB-22C1-EB7BF467A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76F3A-A027-30DB-1A11-A820E8A86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EAD-4570-4379-B983-6208ADEC2FA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83124-8DC2-8DA5-1606-7CB394E52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A9918-B88F-0AB8-72B2-BB1435DDA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7C16-352B-4F5F-8ACD-5C18E335BA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955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C295F9-C45F-C1F8-E77C-B015676AA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53DBF-379D-EC0C-E557-D33FE6F52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9FA16-0C79-255C-ECF9-E7AA01319B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E77EAD-4570-4379-B983-6208ADEC2FA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DD832-13BD-E339-8C9B-08BD03E1BF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720DA-A776-BFBD-186B-A8B159B857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B7C16-352B-4F5F-8ACD-5C18E335BA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455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4B73B-D1AB-BF8B-1BD1-AE95CB0B0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16" y="300867"/>
            <a:ext cx="10515600" cy="56402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CSA-0504 – Database management systems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Sohail(192511120)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IMATS CGPA Calculator">
            <a:extLst>
              <a:ext uri="{FF2B5EF4-FFF2-40B4-BE49-F238E27FC236}">
                <a16:creationId xmlns:a16="http://schemas.microsoft.com/office/drawing/2014/main" id="{24AAA03A-D70C-B8BC-EE8E-AD4DB4E0C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3264" y="141841"/>
            <a:ext cx="1409700" cy="1164445"/>
          </a:xfrm>
          <a:prstGeom prst="rect">
            <a:avLst/>
          </a:prstGeom>
        </p:spPr>
      </p:pic>
      <p:pic>
        <p:nvPicPr>
          <p:cNvPr id="5" name="Picture 4" descr="Saveetha Institute of Medical and Technical Sciences -SIMATS | Chennai">
            <a:extLst>
              <a:ext uri="{FF2B5EF4-FFF2-40B4-BE49-F238E27FC236}">
                <a16:creationId xmlns:a16="http://schemas.microsoft.com/office/drawing/2014/main" id="{3EAF6D2C-EFB3-46C4-251D-6079DBD61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16" y="141841"/>
            <a:ext cx="1698171" cy="15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780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451A-AE99-4F87-A215-25166505A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1069" y="96768"/>
            <a:ext cx="6009861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Online library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C00C5-AB4C-8863-489D-33889A8C5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2331"/>
            <a:ext cx="10515600" cy="4754632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Online Library System?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Online Library System is a database application used to manage books, members, borrowing, and returning activities efficiently.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book details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library members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book borrowing and returns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librarian information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record keeping</a:t>
            </a:r>
          </a:p>
          <a:p>
            <a:pPr marL="914400" lvl="2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4203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05259-5489-5F9E-2099-57E850D18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269" y="166343"/>
            <a:ext cx="3506511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entities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F834F-DC32-0422-5607-6D8203767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46174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IN" sz="2400" b="1" dirty="0"/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Book                                                                                              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(Primary Key)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ISBN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(Primary Key)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0602D1-6FA5-DA0B-B213-9E02E6189805}"/>
              </a:ext>
            </a:extLst>
          </p:cNvPr>
          <p:cNvSpPr txBox="1"/>
          <p:nvPr/>
        </p:nvSpPr>
        <p:spPr>
          <a:xfrm>
            <a:off x="4608857" y="2206645"/>
            <a:ext cx="297428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Librarian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Librarian_ID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(Primary Key)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Borrow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Borrow_ID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(Primary Key)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Issue_Date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Return_Date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9DB8CF-D573-0ADD-8BCD-E20132EF5417}"/>
              </a:ext>
            </a:extLst>
          </p:cNvPr>
          <p:cNvSpPr txBox="1"/>
          <p:nvPr/>
        </p:nvSpPr>
        <p:spPr>
          <a:xfrm>
            <a:off x="8291447" y="3138589"/>
            <a:ext cx="36491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borrows Book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Librarian manages Borrow records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 links Member and Book</a:t>
            </a:r>
          </a:p>
        </p:txBody>
      </p:sp>
    </p:spTree>
    <p:extLst>
      <p:ext uri="{BB962C8B-B14F-4D97-AF65-F5344CB8AC3E}">
        <p14:creationId xmlns:p14="http://schemas.microsoft.com/office/powerpoint/2010/main" val="4230101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E9E19B-D205-840E-CE50-FA36759B2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318052"/>
            <a:ext cx="10287000" cy="615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074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F513C-E926-FE7A-63F7-383BA791D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617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and Specialization with a University Case Study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2A777-316D-F0E6-1EA5-0ABD2E6A3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599" y="1421296"/>
            <a:ext cx="11688417" cy="523792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Extended Entity-Relationship (EER) Model is an advanced version of the ER model that represents more complex data relationships using concepts such as inheritance and subclasses.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inheritance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superclass and subclass relationships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data redundancy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real-world scenarios more accurately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Concepts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Inheritance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Superclass and Subclass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9570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7851A-7372-DA4E-DE10-860117337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9009" y="159026"/>
            <a:ext cx="7838661" cy="70567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and Specialization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20C24-1309-9CF4-DE90-2A5EDD44D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139" y="1331843"/>
            <a:ext cx="4250635" cy="521804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multiple similar entities into one common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superclass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Bottom-up approach.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attributes are moved to the superclass.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⬇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(Superclass)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4A7012-F3ED-F7A6-0BED-5352D0692320}"/>
              </a:ext>
            </a:extLst>
          </p:cNvPr>
          <p:cNvSpPr txBox="1"/>
          <p:nvPr/>
        </p:nvSpPr>
        <p:spPr>
          <a:xfrm>
            <a:off x="7504872" y="1331843"/>
            <a:ext cx="383898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Divides one superclass into multiple subclasses based on specific characteristics.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Top-down approach.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Subclasses inherit attributes from the superclass. 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</a:t>
            </a:r>
          </a:p>
        </p:txBody>
      </p:sp>
    </p:spTree>
    <p:extLst>
      <p:ext uri="{BB962C8B-B14F-4D97-AF65-F5344CB8AC3E}">
        <p14:creationId xmlns:p14="http://schemas.microsoft.com/office/powerpoint/2010/main" val="3035782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5181FC-0184-AB23-6F8B-99E4CE1AD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202" y="372717"/>
            <a:ext cx="9931595" cy="611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056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1112C-7F86-A62B-A894-51DD2A48E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7363" y="188967"/>
            <a:ext cx="7311887" cy="84745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Independence in 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5EAB4-F067-2600-73E7-126C5DE3F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777" y="1252330"/>
            <a:ext cx="11603936" cy="5277679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Independence is the ability to modify the database schema at one level without affecting the schema at the next higher level.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Levels of DBMS Architecture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Level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 Views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Level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Logical Database Structure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Level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Physical Storage Structure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database maintenance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flexibility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scalability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8491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9B5F5B-45BD-21AB-5FA6-78D86BE984EA}"/>
              </a:ext>
            </a:extLst>
          </p:cNvPr>
          <p:cNvSpPr txBox="1"/>
          <p:nvPr/>
        </p:nvSpPr>
        <p:spPr>
          <a:xfrm>
            <a:off x="514349" y="1989197"/>
            <a:ext cx="57373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Data Independence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change the physical storage without affecting the logical schema.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occur at the internal level.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Changing file organization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indexes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Compressing data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Upgrading storage devices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5FF707-146C-A2D2-F301-A9A5D49A6B82}"/>
              </a:ext>
            </a:extLst>
          </p:cNvPr>
          <p:cNvSpPr txBox="1"/>
          <p:nvPr/>
        </p:nvSpPr>
        <p:spPr>
          <a:xfrm>
            <a:off x="6251713" y="1989197"/>
            <a:ext cx="609765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Data Independence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change the logical schema without affecting user.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occur at the conceptual level. 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new attributes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new tables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Modifying relationships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Splitting or merging tables </a:t>
            </a:r>
          </a:p>
        </p:txBody>
      </p:sp>
    </p:spTree>
    <p:extLst>
      <p:ext uri="{BB962C8B-B14F-4D97-AF65-F5344CB8AC3E}">
        <p14:creationId xmlns:p14="http://schemas.microsoft.com/office/powerpoint/2010/main" val="397206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84E6F-5FA8-F833-0E11-242B63AF7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8296" y="96770"/>
            <a:ext cx="3137452" cy="897144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Comparision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802DC70-338E-D83B-5E55-E190019C77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2945768"/>
              </p:ext>
            </p:extLst>
          </p:nvPr>
        </p:nvGraphicFramePr>
        <p:xfrm>
          <a:off x="838200" y="1825624"/>
          <a:ext cx="10515597" cy="4048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77321346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68866875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13275349"/>
                    </a:ext>
                  </a:extLst>
                </a:gridCol>
              </a:tblGrid>
              <a:tr h="67473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3280326"/>
                  </a:ext>
                </a:extLst>
              </a:tr>
              <a:tr h="67473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8080065"/>
                  </a:ext>
                </a:extLst>
              </a:tr>
              <a:tr h="67473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871192"/>
                  </a:ext>
                </a:extLst>
              </a:tr>
              <a:tr h="67473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731862"/>
                  </a:ext>
                </a:extLst>
              </a:tr>
              <a:tr h="67473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960074"/>
                  </a:ext>
                </a:extLst>
              </a:tr>
              <a:tr h="67473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211737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FB04C10A-E7D3-7213-40BC-64FC244FD7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3119463"/>
              </p:ext>
            </p:extLst>
          </p:nvPr>
        </p:nvGraphicFramePr>
        <p:xfrm>
          <a:off x="884583" y="2107096"/>
          <a:ext cx="10651089" cy="3886200"/>
        </p:xfrm>
        <a:graphic>
          <a:graphicData uri="http://schemas.openxmlformats.org/drawingml/2006/table">
            <a:tbl>
              <a:tblPr/>
              <a:tblGrid>
                <a:gridCol w="3640689">
                  <a:extLst>
                    <a:ext uri="{9D8B030D-6E8A-4147-A177-3AD203B41FA5}">
                      <a16:colId xmlns:a16="http://schemas.microsoft.com/office/drawing/2014/main" val="216930519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2302806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313286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Logical Data Independence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Physical Data Independence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47269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Conceptual 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Internal 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4312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Tables, attributes, relationships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Storage, files, indexes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894996"/>
                  </a:ext>
                </a:extLst>
              </a:tr>
              <a:tr h="906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Affects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views should remain unchanged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Logical schema remains unchanged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6725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Difficulty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More difficult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Easier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498929"/>
                  </a:ext>
                </a:extLst>
              </a:tr>
              <a:tr h="906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 a new column to Student 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Create an index on </a:t>
                      </a:r>
                      <a:r>
                        <a:rPr lang="en-IN" dirty="0" err="1"/>
                        <a:t>Student_ID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334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3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9718C-B7A7-B8DA-B3DA-39D48E172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Components of a Database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60767-BBCE-F0C1-536F-3769D1671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73" y="1690688"/>
            <a:ext cx="11688417" cy="4802187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Database Management System (DBMS) consists of several software components that work together to store, retrieve, and manage data efficiently.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Components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user queries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data storage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data consistency and security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multiple users simultaneously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6529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10FFD-C076-8CD4-AE95-73FFEDA3C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8905" y="126585"/>
            <a:ext cx="3992217" cy="867327"/>
          </a:xfrm>
        </p:spPr>
        <p:txBody>
          <a:bodyPr/>
          <a:lstStyle/>
          <a:p>
            <a:r>
              <a:rPr lang="en-US" dirty="0"/>
              <a:t>Query processor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32879-18FF-8AEB-50FB-5CD4F9CD1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40" y="1172818"/>
            <a:ext cx="11479695" cy="5327374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Query Processor interprets and executes SQL queries submitted by users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Parses SQL queries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query syntax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query execution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an execution plan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requested data efficiently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Student WHERE Department = 'CSE';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3782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CECA74-15DC-61C0-F5A8-D828A1B42533}"/>
              </a:ext>
            </a:extLst>
          </p:cNvPr>
          <p:cNvSpPr txBox="1"/>
          <p:nvPr/>
        </p:nvSpPr>
        <p:spPr>
          <a:xfrm>
            <a:off x="583923" y="1060105"/>
            <a:ext cx="392844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Storage Manager is responsible for storing, retrieving, and updating data in the database.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database files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Organizes records and indexes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disk space allocation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efficient data access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009684-61C9-2F3F-9696-798E1B7F4D59}"/>
              </a:ext>
            </a:extLst>
          </p:cNvPr>
          <p:cNvSpPr txBox="1"/>
          <p:nvPr/>
        </p:nvSpPr>
        <p:spPr>
          <a:xfrm>
            <a:off x="6775174" y="1060105"/>
            <a:ext cx="491241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Transaction Manager ensures that database transactions are executed safely and reliably while maintaining data consistency.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transactions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concurrent access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commit and rollback operations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ACID properties: </a:t>
            </a:r>
          </a:p>
        </p:txBody>
      </p:sp>
    </p:spTree>
    <p:extLst>
      <p:ext uri="{BB962C8B-B14F-4D97-AF65-F5344CB8AC3E}">
        <p14:creationId xmlns:p14="http://schemas.microsoft.com/office/powerpoint/2010/main" val="2281831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82062-154D-3C9E-D716-6AAB577B4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283"/>
            <a:ext cx="10515600" cy="59897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Strong and Weak Entities in ER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57A41-8957-CC70-93EC-AD3B143AA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991" y="934278"/>
            <a:ext cx="11708296" cy="5615609"/>
          </a:xfrm>
        </p:spPr>
        <p:txBody>
          <a:bodyPr>
            <a:normAutofit/>
          </a:bodyPr>
          <a:lstStyle/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entity is a real-world object or concept that stores information in a database.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Entity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its own Primary Key.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Exists independently.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Represented by a single rectangle in an ER diagram. 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 (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Employee_ID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Name, Department)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Entity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have a complete Primary Key.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a Strong Entity.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Represented by a double rectangle in an ER diagram. 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Dependent (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Dependent_Name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Age)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2620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1EC7D-C533-4D1D-735E-FFFE369AD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13" y="96770"/>
            <a:ext cx="8931965" cy="688422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Real-World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4BA35-71B6-4E27-79A6-CF39F38C0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221" y="993914"/>
            <a:ext cx="11035748" cy="547128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and Dependent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is a Strong Entity because it has a unique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Employee_ID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is a Weak Entity because it cannot exist without an Employee.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DC7859-F8E0-D236-8520-597A477EB3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30393"/>
              </p:ext>
            </p:extLst>
          </p:nvPr>
        </p:nvGraphicFramePr>
        <p:xfrm>
          <a:off x="808383" y="2852532"/>
          <a:ext cx="10502347" cy="3488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5078">
                  <a:extLst>
                    <a:ext uri="{9D8B030D-6E8A-4147-A177-3AD203B41FA5}">
                      <a16:colId xmlns:a16="http://schemas.microsoft.com/office/drawing/2014/main" val="174970852"/>
                    </a:ext>
                  </a:extLst>
                </a:gridCol>
                <a:gridCol w="3525078">
                  <a:extLst>
                    <a:ext uri="{9D8B030D-6E8A-4147-A177-3AD203B41FA5}">
                      <a16:colId xmlns:a16="http://schemas.microsoft.com/office/drawing/2014/main" val="918417866"/>
                    </a:ext>
                  </a:extLst>
                </a:gridCol>
                <a:gridCol w="3452191">
                  <a:extLst>
                    <a:ext uri="{9D8B030D-6E8A-4147-A177-3AD203B41FA5}">
                      <a16:colId xmlns:a16="http://schemas.microsoft.com/office/drawing/2014/main" val="3938662461"/>
                    </a:ext>
                  </a:extLst>
                </a:gridCol>
              </a:tblGrid>
              <a:tr h="532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Strong Entity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Weak Entity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3892162"/>
                  </a:ext>
                </a:extLst>
              </a:tr>
              <a:tr h="539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Has its own 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Has a Partial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262427"/>
                  </a:ext>
                </a:extLst>
              </a:tr>
              <a:tr h="539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Dependency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Independent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Depends on Strong Entity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8613742"/>
                  </a:ext>
                </a:extLst>
              </a:tr>
              <a:tr h="1338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ER 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Single Rectangle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Double Rectangle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4120929"/>
                  </a:ext>
                </a:extLst>
              </a:tr>
              <a:tr h="539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Employee, Student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Dependent, Order Item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306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6847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779</Words>
  <Application>Microsoft Office PowerPoint</Application>
  <PresentationFormat>Widescreen</PresentationFormat>
  <Paragraphs>203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1. Online library system</vt:lpstr>
      <vt:lpstr>Main entities</vt:lpstr>
      <vt:lpstr>PowerPoint Presentation</vt:lpstr>
      <vt:lpstr>2. Generalization and Specialization with a University Case Study </vt:lpstr>
      <vt:lpstr>Generalization and Specialization</vt:lpstr>
      <vt:lpstr>PowerPoint Presentation</vt:lpstr>
      <vt:lpstr>3. Data Independence in DBMS</vt:lpstr>
      <vt:lpstr>PowerPoint Presentation</vt:lpstr>
      <vt:lpstr>Comparision</vt:lpstr>
      <vt:lpstr>4. Software Components of a Database Management System</vt:lpstr>
      <vt:lpstr>Query processor</vt:lpstr>
      <vt:lpstr>PowerPoint Presentation</vt:lpstr>
      <vt:lpstr>5. Strong and Weak Entities in ER Modeling</vt:lpstr>
      <vt:lpstr>Comparison with Real-World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SHAIKMAHAMADSOHAIL@outlook.com</dc:creator>
  <cp:lastModifiedBy>SHAIKMAHAMADSOHAIL@outlook.com</cp:lastModifiedBy>
  <cp:revision>6</cp:revision>
  <dcterms:created xsi:type="dcterms:W3CDTF">2026-07-18T19:46:36Z</dcterms:created>
  <dcterms:modified xsi:type="dcterms:W3CDTF">2026-07-18T21:23:54Z</dcterms:modified>
</cp:coreProperties>
</file>