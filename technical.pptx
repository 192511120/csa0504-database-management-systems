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579C-FC50-D885-7147-81CC1E4E7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9958E-0A66-7855-18DC-362B10A17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3BE80-D577-004A-08DF-8676CB86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BBA7-6360-BD40-648A-790F2492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C1AE5-6760-A3A0-FB92-ABF75B24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0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63B5-9123-7395-583E-7C033251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45B8-513E-1B88-D7D3-2CF11FF3C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7DE26-4A26-0568-EACE-F5B78245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5004F-E3CE-7A7C-8D66-EAC29380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F19AE-8199-2FA4-8B9F-708F241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85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4463-67D5-D11C-5531-C435CB815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15FEA-55E8-9671-F6BB-980010ED4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3754-3867-7811-4299-8764121F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C778C-1714-9AFF-14A0-854AAF1D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A48E6-F989-6069-9562-794A0E17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9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557E-E258-88A5-F1A1-F8736A981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B265-633B-9D96-2FD0-DC1CB93BE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817FD-47BB-8695-3519-9B23076BC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A8F48-C5EB-BDB8-E88C-8736E16C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27C6B-941E-D8C7-459F-9E091E76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06E3D-89B6-B3C8-E303-1BBFB358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8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3D47-2130-86EB-F73B-0EC868C7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1F56C-881D-2707-E794-DE2D0EC1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F075E-9751-4922-96F0-8FDE2CD4A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B295F-5201-7FB7-CB2C-826A969E6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83923-31EF-9DAC-F86D-6CC5F49C8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0D66F-A08A-5927-5808-44544E3B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90F16-BEA3-E337-09D9-825E2B95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6CAA69-D46D-E21A-0A7E-01A75096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6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97A5-A50A-B8C4-6897-477D9EEF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5C749-41D0-C681-F050-50D40A9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29C82-0758-4F90-E07D-FB443C0A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B0FC7-3698-863F-07CF-B5904BAE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21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3990D-0421-2FA6-8E79-0B61850D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7B6F8-FC14-9ED8-EFE8-E2634A6F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85B95-CAC4-82B2-ACD5-C6B58E8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86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BB25-6472-8177-427B-8CF7C4D0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5827E-7DA9-9468-C13B-1CB890158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711D-3288-E691-A56D-493C79E42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3525C-14D6-4E67-2B9B-918103D3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A1EB9-6AC0-F3C2-CB20-82006BF2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303C2-DE0B-E049-150F-E975DA53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233C-12EA-FEE5-8C12-8EA22586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DA3B5-8FAC-0651-258F-807981A85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A4C49-DD27-28E7-74BB-D54C5683E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BA7B3-B2E8-DA3D-7A21-414A90B8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CA09C-E4A3-E3D7-946A-14051CF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110A1-9447-F93A-6C24-56BC3864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09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593E-F704-9ACA-27A2-5D54BED5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BC59C-CFE5-3BB1-E11A-E61D8D83F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D45AE-4571-53F9-46CE-7A297CC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08890-BA14-1CC5-1629-3CB63F92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3305A-C7AC-C4AF-36C2-854D7DDC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4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A5699-0445-017B-907E-EB7583920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966A7-8EFE-7CFB-22C1-EB7BF467A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76F3A-A027-30DB-1A11-A820E8A8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3124-8DC2-8DA5-1606-7CB394E5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A9918-B88F-0AB8-72B2-BB1435DD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95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295F9-C45F-C1F8-E77C-B015676A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53DBF-379D-EC0C-E557-D33FE6F52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FA16-0C79-255C-ECF9-E7AA01319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77EAD-4570-4379-B983-6208ADEC2FA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D832-13BD-E339-8C9B-08BD03E1B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20DA-A776-BFBD-186B-A8B159B85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B7C16-352B-4F5F-8ACD-5C18E335BA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45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4B73B-D1AB-BF8B-1BD1-AE95CB0B0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16" y="300867"/>
            <a:ext cx="10515600" cy="5640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CSA-0504 – Database management systems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CO 1- AT 3 - Technical Presentation                                                       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Sohail(192511120)</a:t>
            </a:r>
          </a:p>
          <a:p>
            <a:pPr marL="0" indent="0"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BE.CSE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IMATS CGPA Calculator">
            <a:extLst>
              <a:ext uri="{FF2B5EF4-FFF2-40B4-BE49-F238E27FC236}">
                <a16:creationId xmlns:a16="http://schemas.microsoft.com/office/drawing/2014/main" id="{24AAA03A-D70C-B8BC-EE8E-AD4DB4E0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264" y="300867"/>
            <a:ext cx="1409700" cy="1164445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3EAF6D2C-EFB3-46C4-251D-6079DBD61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16" y="141841"/>
            <a:ext cx="1698171" cy="15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8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451A-AE99-4F87-A215-25166505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069" y="96768"/>
            <a:ext cx="600986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library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00C5-AB4C-8863-489D-33889A8C5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331"/>
            <a:ext cx="10515600" cy="475463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Online Library System?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System is a database application used to manage books, members, borrowing, and returning activities efficiently.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details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library members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book borrowing and returns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librarian information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record keeping</a:t>
            </a:r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20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5259-5489-5F9E-2099-57E850D1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269" y="166343"/>
            <a:ext cx="350651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entities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F834F-DC32-0422-5607-6D820376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6174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sz="2400" b="1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Book                                                                                             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ISBN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602D1-6FA5-DA0B-B213-9E02E6189805}"/>
              </a:ext>
            </a:extLst>
          </p:cNvPr>
          <p:cNvSpPr txBox="1"/>
          <p:nvPr/>
        </p:nvSpPr>
        <p:spPr>
          <a:xfrm>
            <a:off x="4608857" y="2206645"/>
            <a:ext cx="29742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Librarian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Borrow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Borrow_ID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DB8CF-D573-0ADD-8BCD-E20132EF5417}"/>
              </a:ext>
            </a:extLst>
          </p:cNvPr>
          <p:cNvSpPr txBox="1"/>
          <p:nvPr/>
        </p:nvSpPr>
        <p:spPr>
          <a:xfrm>
            <a:off x="8291447" y="3138589"/>
            <a:ext cx="3649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borrows Book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manages Borrow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 links Member and Book</a:t>
            </a:r>
          </a:p>
        </p:txBody>
      </p:sp>
    </p:spTree>
    <p:extLst>
      <p:ext uri="{BB962C8B-B14F-4D97-AF65-F5344CB8AC3E}">
        <p14:creationId xmlns:p14="http://schemas.microsoft.com/office/powerpoint/2010/main" val="423010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E14630-F8C3-4813-AF1D-5BAEB6B3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726" y="884582"/>
            <a:ext cx="9054548" cy="508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7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513C-E926-FE7A-63F7-383BA791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61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 with a University Case Study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A777-316D-F0E6-1EA5-0ABD2E6A3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421296"/>
            <a:ext cx="11688417" cy="52379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EER Model is an advanced version of the ER model that represents more complex data relationships using concepts such as inheritance and subclasses.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inheritance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superclass and subclass relationships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real-world scenarios more accurately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 and Subclass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57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851A-7372-DA4E-DE10-86011733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009" y="159026"/>
            <a:ext cx="7838661" cy="7056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20C24-1309-9CF4-DE90-2A5EDD44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139" y="1331843"/>
            <a:ext cx="4250635" cy="52180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similar entities into one common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 approach.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attributes are moved to the superclass.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⬇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(Superclass)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A7012-F3ED-F7A6-0BED-5352D0692320}"/>
              </a:ext>
            </a:extLst>
          </p:cNvPr>
          <p:cNvSpPr txBox="1"/>
          <p:nvPr/>
        </p:nvSpPr>
        <p:spPr>
          <a:xfrm>
            <a:off x="7504872" y="1331843"/>
            <a:ext cx="38389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one superclass into multiple subclasses based on specific characteristics.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approach.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Subclasses inherit attributes from the superclass.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</p:txBody>
      </p:sp>
    </p:spTree>
    <p:extLst>
      <p:ext uri="{BB962C8B-B14F-4D97-AF65-F5344CB8AC3E}">
        <p14:creationId xmlns:p14="http://schemas.microsoft.com/office/powerpoint/2010/main" val="303578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E7F843-6162-4E67-6F2F-2656D7EE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86" y="730526"/>
            <a:ext cx="8617227" cy="539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5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112C-7F86-A62B-A894-51DD2A48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363" y="188967"/>
            <a:ext cx="7311887" cy="8474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Independence in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EAB4-F067-2600-73E7-126C5DE3F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77" y="1252330"/>
            <a:ext cx="11603936" cy="527767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the ability to modify the database schema at one level without affecting the schema at the next higher level.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Levels of DBMS Architecture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Views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Logical Database Structure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Physical Storage Structure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database maintenance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flexibility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49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9B5F5B-45BD-21AB-5FA6-78D86BE984EA}"/>
              </a:ext>
            </a:extLst>
          </p:cNvPr>
          <p:cNvSpPr txBox="1"/>
          <p:nvPr/>
        </p:nvSpPr>
        <p:spPr>
          <a:xfrm>
            <a:off x="514349" y="1989197"/>
            <a:ext cx="57373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change the physical storage without affecting the logical schema.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occur at the internal level.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file organization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indexes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Compressing data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Upgrading storage devices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FF707-146C-A2D2-F301-A9A5D49A6B82}"/>
              </a:ext>
            </a:extLst>
          </p:cNvPr>
          <p:cNvSpPr txBox="1"/>
          <p:nvPr/>
        </p:nvSpPr>
        <p:spPr>
          <a:xfrm>
            <a:off x="6251713" y="1989197"/>
            <a:ext cx="6097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change the logical schema without affecting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occur at the conceptual level.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attributes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relationships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or merging tables </a:t>
            </a:r>
          </a:p>
        </p:txBody>
      </p:sp>
    </p:spTree>
    <p:extLst>
      <p:ext uri="{BB962C8B-B14F-4D97-AF65-F5344CB8AC3E}">
        <p14:creationId xmlns:p14="http://schemas.microsoft.com/office/powerpoint/2010/main" val="39720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4E6F-5FA8-F833-0E11-242B63AF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296" y="96770"/>
            <a:ext cx="3137452" cy="897144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02DC70-338E-D83B-5E55-E190019C7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945768"/>
              </p:ext>
            </p:extLst>
          </p:nvPr>
        </p:nvGraphicFramePr>
        <p:xfrm>
          <a:off x="838200" y="1825624"/>
          <a:ext cx="10515597" cy="4048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73213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886687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13275349"/>
                    </a:ext>
                  </a:extLst>
                </a:gridCol>
              </a:tblGrid>
              <a:tr h="67473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280326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080065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871192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731862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960074"/>
                  </a:ext>
                </a:extLst>
              </a:tr>
              <a:tr h="67473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211737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B04C10A-E7D3-7213-40BC-64FC244FD7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3119463"/>
              </p:ext>
            </p:extLst>
          </p:nvPr>
        </p:nvGraphicFramePr>
        <p:xfrm>
          <a:off x="884583" y="2107096"/>
          <a:ext cx="10651089" cy="3886200"/>
        </p:xfrm>
        <a:graphic>
          <a:graphicData uri="http://schemas.openxmlformats.org/drawingml/2006/table">
            <a:tbl>
              <a:tblPr/>
              <a:tblGrid>
                <a:gridCol w="3640689">
                  <a:extLst>
                    <a:ext uri="{9D8B030D-6E8A-4147-A177-3AD203B41FA5}">
                      <a16:colId xmlns:a16="http://schemas.microsoft.com/office/drawing/2014/main" val="21693051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30280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13286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Logical Data Independence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Physical Data Independence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7269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Conceptual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Internal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4312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Tables, attributes,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Storage, files, indexes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94996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Affects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views should remain unchanged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schema remains unchanged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6725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498929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a new column to Student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an index on </a:t>
                      </a: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334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718C-B7A7-B8DA-B3DA-39D48E17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Components of a Database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60767-BBCE-F0C1-536F-3769D167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3" y="1690688"/>
            <a:ext cx="11688417" cy="4802187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Management System (DBMS) consists of several software components that work together to store, retrieve, and manage data efficiently.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user queries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data storage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security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users simultaneously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52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0FFD-C076-8CD4-AE95-73FFEDA3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905" y="126585"/>
            <a:ext cx="3992217" cy="867327"/>
          </a:xfrm>
        </p:spPr>
        <p:txBody>
          <a:bodyPr/>
          <a:lstStyle/>
          <a:p>
            <a:r>
              <a:rPr lang="en-US" dirty="0"/>
              <a:t>Query processor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2879-18FF-8AEB-50FB-5CD4F9CD1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40" y="1172818"/>
            <a:ext cx="11479695" cy="532737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Processor interprets and executes SQL queries submitted by users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SQL queries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query syntax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query execution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execution plan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requested data efficiently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 WHERE Department = 'CSE';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78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ECA74-15DC-61C0-F5A8-D828A1B42533}"/>
              </a:ext>
            </a:extLst>
          </p:cNvPr>
          <p:cNvSpPr txBox="1"/>
          <p:nvPr/>
        </p:nvSpPr>
        <p:spPr>
          <a:xfrm>
            <a:off x="583923" y="1060105"/>
            <a:ext cx="39284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Manager is responsible for storing, retrieving, and updating data in the database.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database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records and indexes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disk space allocation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data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09684-61C9-2F3F-9696-798E1B7F4D59}"/>
              </a:ext>
            </a:extLst>
          </p:cNvPr>
          <p:cNvSpPr txBox="1"/>
          <p:nvPr/>
        </p:nvSpPr>
        <p:spPr>
          <a:xfrm>
            <a:off x="6775174" y="1060105"/>
            <a:ext cx="49124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Manager ensures that database transactions are executed safely and reliably while maintaining data consistency.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concurrent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commit and rollback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ACID properties: </a:t>
            </a:r>
          </a:p>
        </p:txBody>
      </p:sp>
    </p:spTree>
    <p:extLst>
      <p:ext uri="{BB962C8B-B14F-4D97-AF65-F5344CB8AC3E}">
        <p14:creationId xmlns:p14="http://schemas.microsoft.com/office/powerpoint/2010/main" val="2281831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2062-154D-3C9E-D716-6AAB577B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83"/>
            <a:ext cx="10515600" cy="5989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and Weak Entities in 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7A41-8957-CC70-93EC-AD3B143AA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91" y="934278"/>
            <a:ext cx="11708296" cy="5615609"/>
          </a:xfrm>
        </p:spPr>
        <p:txBody>
          <a:bodyPr>
            <a:norm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entity is a real-world object or concept that stores information in a database.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its own Primary Key.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independently.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 single rectangle in an ER diagram.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Department)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 complete Primary Key.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Strong Entity.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 double rectangle in an ER diagram.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Dependent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62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EC7D-C533-4D1D-735E-FFFE369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13" y="96770"/>
            <a:ext cx="8931965" cy="68842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4BA35-71B6-4E27-79A6-CF39F38C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221" y="993914"/>
            <a:ext cx="11035748" cy="547128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and Dependent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is a Strong Entity because it has a unique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is a Weak Entity because it cannot exist without an Employee.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DC7859-F8E0-D236-8520-597A477EB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0393"/>
              </p:ext>
            </p:extLst>
          </p:nvPr>
        </p:nvGraphicFramePr>
        <p:xfrm>
          <a:off x="808383" y="2852532"/>
          <a:ext cx="10502347" cy="348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078">
                  <a:extLst>
                    <a:ext uri="{9D8B030D-6E8A-4147-A177-3AD203B41FA5}">
                      <a16:colId xmlns:a16="http://schemas.microsoft.com/office/drawing/2014/main" val="174970852"/>
                    </a:ext>
                  </a:extLst>
                </a:gridCol>
                <a:gridCol w="3525078">
                  <a:extLst>
                    <a:ext uri="{9D8B030D-6E8A-4147-A177-3AD203B41FA5}">
                      <a16:colId xmlns:a16="http://schemas.microsoft.com/office/drawing/2014/main" val="918417866"/>
                    </a:ext>
                  </a:extLst>
                </a:gridCol>
                <a:gridCol w="3452191">
                  <a:extLst>
                    <a:ext uri="{9D8B030D-6E8A-4147-A177-3AD203B41FA5}">
                      <a16:colId xmlns:a16="http://schemas.microsoft.com/office/drawing/2014/main" val="3938662461"/>
                    </a:ext>
                  </a:extLst>
                </a:gridCol>
              </a:tblGrid>
              <a:tr h="532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Strong 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Weak Entity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892162"/>
                  </a:ext>
                </a:extLst>
              </a:tr>
              <a:tr h="53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 its own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 a Partial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262427"/>
                  </a:ext>
                </a:extLst>
              </a:tr>
              <a:tr h="53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Strong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613742"/>
                  </a:ext>
                </a:extLst>
              </a:tr>
              <a:tr h="1338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 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Rectangle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Double Rectangle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120929"/>
                  </a:ext>
                </a:extLst>
              </a:tr>
              <a:tr h="53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Employee, 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Dependent, Order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306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847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5D1CC0-E6E1-3EB1-0E72-DEAB9DB60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79" y="1190003"/>
            <a:ext cx="5962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08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782</Words>
  <Application>Microsoft Office PowerPoint</Application>
  <PresentationFormat>Widescreen</PresentationFormat>
  <Paragraphs>203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1. Online library system</vt:lpstr>
      <vt:lpstr>Main entities</vt:lpstr>
      <vt:lpstr>PowerPoint Presentation</vt:lpstr>
      <vt:lpstr>2. Generalization and Specialization with a University Case Study </vt:lpstr>
      <vt:lpstr>Generalization and Specialization</vt:lpstr>
      <vt:lpstr>PowerPoint Presentation</vt:lpstr>
      <vt:lpstr>3. Data Independence in DBMS</vt:lpstr>
      <vt:lpstr>PowerPoint Presentation</vt:lpstr>
      <vt:lpstr>Comparision</vt:lpstr>
      <vt:lpstr>4. Software Components of a Database Management System</vt:lpstr>
      <vt:lpstr>Query processor</vt:lpstr>
      <vt:lpstr>PowerPoint Presentation</vt:lpstr>
      <vt:lpstr>5. Strong and Weak Entities in ER Modeling</vt:lpstr>
      <vt:lpstr>Comparison with Real-World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SHAIKMAHAMADSOHAIL@outlook.com</dc:creator>
  <cp:lastModifiedBy>SHAIKMAHAMADSOHAIL@outlook.com</cp:lastModifiedBy>
  <cp:revision>10</cp:revision>
  <dcterms:created xsi:type="dcterms:W3CDTF">2026-07-18T19:46:36Z</dcterms:created>
  <dcterms:modified xsi:type="dcterms:W3CDTF">2026-07-23T03:36:11Z</dcterms:modified>
</cp:coreProperties>
</file>